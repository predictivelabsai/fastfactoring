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FACTORIO AI PLATFORM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4028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200" b="1">
                <a:solidFill>
                  <a:srgbClr val="FFFFFF"/>
                </a:solidFill>
              </a:rPr>
              <a:t>User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4612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0">
                <a:solidFill>
                  <a:srgbClr val="FFFFFF"/>
                </a:solidFill>
              </a:rPr>
              <a:t>Supplier · Investor · 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Synthetic demonstration data · 2026-07-26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231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1. Borrower / Supplier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1F5D43"/>
                </a:solidFill>
              </a:rPr>
              <a:t>1. BORROWER / SUPPLIER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1F5D43"/>
                </a:solidFill>
              </a:rPr>
              <a:t>Start in Factorio AI</a:t>
            </a:r>
          </a:p>
        </p:txBody>
      </p:sp>
      <p:pic>
        <p:nvPicPr>
          <p:cNvPr id="5" name="Picture 4" descr="01-supplier-ai-up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03070"/>
            <a:ext cx="6766560" cy="42291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43800" y="1417320"/>
            <a:ext cx="40690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4231B"/>
                </a:solidFill>
              </a:rPr>
              <a:t>• The Supplier demo opens in one AI workspace—there is no marketplace or triage queue.</a:t>
            </a:r>
          </a:p>
          <a:p>
            <a:pPr>
              <a:spcBef>
                <a:spcPts val="1300"/>
              </a:spcBef>
            </a:pPr>
            <a:r>
              <a:rPr sz="1400">
                <a:solidFill>
                  <a:srgbClr val="14231B"/>
                </a:solidFill>
              </a:rPr>
              <a:t>• Select the paperclip and upload a digital PDF, image, JSON, or text invoice.</a:t>
            </a:r>
          </a:p>
          <a:p>
            <a:pPr>
              <a:spcBef>
                <a:spcPts val="1300"/>
              </a:spcBef>
            </a:pPr>
            <a:r>
              <a:rPr sz="1400">
                <a:solidFill>
                  <a:srgbClr val="14231B"/>
                </a:solidFill>
              </a:rPr>
              <a:t>• The demo uses synthetic invoices; digital PDFs are converted to Markdown before xAI extraction.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598932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>
                <a:solidFill>
                  <a:srgbClr val="5C6860"/>
                </a:solidFill>
              </a:rPr>
              <a:t>DEMO · SYNTHETIC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1F5D43"/>
                </a:solidFill>
              </a:rPr>
              <a:t>1. BORROWER / SUPPLIER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1F5D43"/>
                </a:solidFill>
              </a:rPr>
              <a:t>Upload an invoice and receive an offer</a:t>
            </a:r>
          </a:p>
        </p:txBody>
      </p:sp>
      <p:pic>
        <p:nvPicPr>
          <p:cNvPr id="5" name="Picture 4" descr="02-supplier-ai-off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530" y="1280160"/>
            <a:ext cx="4623338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43800" y="1417320"/>
            <a:ext cx="40690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4231B"/>
                </a:solidFill>
              </a:rPr>
              <a:t>• Factorio AI extracts supplier, debtor, invoice number, amount, dates, bank details, and payment terms.</a:t>
            </a:r>
          </a:p>
          <a:p>
            <a:pPr>
              <a:spcBef>
                <a:spcPts val="1300"/>
              </a:spcBef>
            </a:pPr>
            <a:r>
              <a:rPr sz="1400">
                <a:solidFill>
                  <a:srgbClr val="14231B"/>
                </a:solidFill>
              </a:rPr>
              <a:t>• The response clearly says “You’re pre-approved!” and presents an indicative offer table.</a:t>
            </a:r>
          </a:p>
          <a:p>
            <a:pPr>
              <a:spcBef>
                <a:spcPts val="1300"/>
              </a:spcBef>
            </a:pPr>
            <a:r>
              <a:rPr sz="1400">
                <a:solidFill>
                  <a:srgbClr val="14231B"/>
                </a:solidFill>
              </a:rPr>
              <a:t>• Download PDF, Accept, and Change remain visible; final terms are subject to verification.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598932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>
                <a:solidFill>
                  <a:srgbClr val="5C6860"/>
                </a:solidFill>
              </a:rPr>
              <a:t>DEMO · SYNTHETIC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1F5D43"/>
                </a:solidFill>
              </a:rPr>
              <a:t>1. BORROWER / SUPPLIER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1F5D43"/>
                </a:solidFill>
              </a:rPr>
              <a:t>Change the amount or financing period</a:t>
            </a:r>
          </a:p>
        </p:txBody>
      </p:sp>
      <p:pic>
        <p:nvPicPr>
          <p:cNvPr id="5" name="Picture 4" descr="03-supplier-change-ter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530" y="1280160"/>
            <a:ext cx="4623338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43800" y="1417320"/>
            <a:ext cx="40690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4231B"/>
                </a:solidFill>
              </a:rPr>
              <a:t>• Open Change to request a lower amount paid today or a different period.</a:t>
            </a:r>
          </a:p>
          <a:p>
            <a:pPr>
              <a:spcBef>
                <a:spcPts val="1300"/>
              </a:spcBef>
            </a:pPr>
            <a:r>
              <a:rPr sz="1400">
                <a:solidFill>
                  <a:srgbClr val="14231B"/>
                </a:solidFill>
              </a:rPr>
              <a:t>• The indicative fee updates from the requested amount and days.</a:t>
            </a:r>
          </a:p>
          <a:p>
            <a:pPr>
              <a:spcBef>
                <a:spcPts val="1300"/>
              </a:spcBef>
            </a:pPr>
            <a:r>
              <a:rPr sz="1400">
                <a:solidFill>
                  <a:srgbClr val="14231B"/>
                </a:solidFill>
              </a:rPr>
              <a:t>• Add contact details and confirm registry information before acceptance.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598932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>
                <a:solidFill>
                  <a:srgbClr val="5C6860"/>
                </a:solidFill>
              </a:rPr>
              <a:t>DEMO · SYNTHETIC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1F5D43"/>
                </a:solidFill>
              </a:rPr>
              <a:t>1. BORROWER / SUPPLIER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1F5D43"/>
                </a:solidFill>
              </a:rPr>
              <a:t>Profile, banking, and accounting connections</a:t>
            </a:r>
          </a:p>
        </p:txBody>
      </p:sp>
      <p:pic>
        <p:nvPicPr>
          <p:cNvPr id="5" name="Picture 4" descr="04-supplier-profile-integr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03070"/>
            <a:ext cx="6766560" cy="42291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43800" y="1417320"/>
            <a:ext cx="40690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4231B"/>
                </a:solidFill>
              </a:rPr>
              <a:t>• My Profile contains a hypothetical company identity and masked settlement bank information.</a:t>
            </a:r>
          </a:p>
          <a:p>
            <a:pPr>
              <a:spcBef>
                <a:spcPts val="1300"/>
              </a:spcBef>
            </a:pPr>
            <a:r>
              <a:rPr sz="1400">
                <a:solidFill>
                  <a:srgbClr val="14231B"/>
                </a:solidFill>
              </a:rPr>
              <a:t>• Lloyds Bank is labelled as a planned Open Banking connection.</a:t>
            </a:r>
          </a:p>
          <a:p>
            <a:pPr>
              <a:spcBef>
                <a:spcPts val="1300"/>
              </a:spcBef>
            </a:pPr>
            <a:r>
              <a:rPr sz="1400">
                <a:solidFill>
                  <a:srgbClr val="14231B"/>
                </a:solidFill>
              </a:rPr>
              <a:t>• QuickBooks, Xero, and Sage are clearly labelled hypothetical demo integrations.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598932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>
                <a:solidFill>
                  <a:srgbClr val="5C6860"/>
                </a:solidFill>
              </a:rPr>
              <a:t>DEMO · SYNTHETIC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1F5D43"/>
                </a:solidFill>
              </a:rPr>
              <a:t>1. BORROWER / SUPPLIER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1F5D43"/>
                </a:solidFill>
              </a:rPr>
              <a:t>Track applications and contracts</a:t>
            </a:r>
          </a:p>
        </p:txBody>
      </p:sp>
      <p:pic>
        <p:nvPicPr>
          <p:cNvPr id="5" name="Picture 4" descr="05-supplier-applic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03070"/>
            <a:ext cx="6766560" cy="42291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43800" y="1417320"/>
            <a:ext cx="40690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4231B"/>
                </a:solidFill>
              </a:rPr>
              <a:t>• My Applications shows synthetic financing requests created from accepted invoices.</a:t>
            </a:r>
          </a:p>
          <a:p>
            <a:pPr>
              <a:spcBef>
                <a:spcPts val="1300"/>
              </a:spcBef>
            </a:pPr>
            <a:r>
              <a:rPr sz="1400">
                <a:solidFill>
                  <a:srgbClr val="14231B"/>
                </a:solidFill>
              </a:rPr>
              <a:t>• Each accepted request can expose a one-page financing contract between Factorio Ltd and the extracted supplier.</a:t>
            </a:r>
          </a:p>
          <a:p>
            <a:pPr>
              <a:spcBef>
                <a:spcPts val="1300"/>
              </a:spcBef>
            </a:pPr>
            <a:r>
              <a:rPr sz="1400">
                <a:solidFill>
                  <a:srgbClr val="14231B"/>
                </a:solidFill>
              </a:rPr>
              <a:t>• Downloaded PDFs use supplier, Factorio reference, date, and document-type slugs.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598932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>
                <a:solidFill>
                  <a:srgbClr val="5C6860"/>
                </a:solidFill>
              </a:rPr>
              <a:t>DEMO · SYNTHETIC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231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2. Investor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1F5D43"/>
                </a:solidFill>
              </a:rPr>
              <a:t>2. INVESTOR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1F5D43"/>
                </a:solidFill>
              </a:rPr>
              <a:t>Ask Investor AI about performance</a:t>
            </a:r>
          </a:p>
        </p:txBody>
      </p:sp>
      <p:pic>
        <p:nvPicPr>
          <p:cNvPr id="5" name="Picture 4" descr="06-investor-ai-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530" y="1280160"/>
            <a:ext cx="4623338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43800" y="1417320"/>
            <a:ext cx="40690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4231B"/>
                </a:solidFill>
              </a:rPr>
              <a:t>• Investor AI is grounded only in the selected demo investor’s positions and computed metrics.</a:t>
            </a:r>
          </a:p>
          <a:p>
            <a:pPr>
              <a:spcBef>
                <a:spcPts val="1300"/>
              </a:spcBef>
            </a:pPr>
            <a:r>
              <a:rPr sz="1400">
                <a:solidFill>
                  <a:srgbClr val="14231B"/>
                </a:solidFill>
              </a:rPr>
              <a:t>• Eval question shown: “How are my investments performing?”</a:t>
            </a:r>
          </a:p>
          <a:p>
            <a:pPr>
              <a:spcBef>
                <a:spcPts val="1300"/>
              </a:spcBef>
            </a:pPr>
            <a:r>
              <a:rPr sz="1400">
                <a:solidFill>
                  <a:srgbClr val="14231B"/>
                </a:solidFill>
              </a:rPr>
              <a:t>• Expected and realised returns are distinguished; the assistant does not guarantee outcomes.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598932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>
                <a:solidFill>
                  <a:srgbClr val="5C6860"/>
                </a:solidFill>
              </a:rPr>
              <a:t>DEMO · SYNTHETIC DATA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1F5D43"/>
                </a:solidFill>
              </a:rPr>
              <a:t>2. INVESTOR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1F5D43"/>
                </a:solidFill>
              </a:rPr>
              <a:t>Ask about concentration and risk</a:t>
            </a:r>
          </a:p>
        </p:txBody>
      </p:sp>
      <p:pic>
        <p:nvPicPr>
          <p:cNvPr id="5" name="Picture 4" descr="07-investor-ai-concen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530" y="1280160"/>
            <a:ext cx="4623338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43800" y="1417320"/>
            <a:ext cx="40690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4231B"/>
                </a:solidFill>
              </a:rPr>
              <a:t>• Eval question shown: “Where is my portfolio most concentrated?”</a:t>
            </a:r>
          </a:p>
          <a:p>
            <a:pPr>
              <a:spcBef>
                <a:spcPts val="1300"/>
              </a:spcBef>
            </a:pPr>
            <a:r>
              <a:rPr sz="1400">
                <a:solidFill>
                  <a:srgbClr val="14231B"/>
                </a:solidFill>
              </a:rPr>
              <a:t>• Debtor and sector exposure percentages are calculated deterministically before reaching the model.</a:t>
            </a:r>
          </a:p>
          <a:p>
            <a:pPr>
              <a:spcBef>
                <a:spcPts val="1300"/>
              </a:spcBef>
            </a:pPr>
            <a:r>
              <a:rPr sz="1400">
                <a:solidFill>
                  <a:srgbClr val="14231B"/>
                </a:solidFill>
              </a:rPr>
              <a:t>• Copy and Share create portable session transcripts; shared links are read-only snapshots.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598932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>
                <a:solidFill>
                  <a:srgbClr val="5C6860"/>
                </a:solidFill>
              </a:rPr>
              <a:t>DEMO · SYNTHETIC DATA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1F5D43"/>
                </a:solidFill>
              </a:rPr>
              <a:t>2. INVESTOR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1F5D43"/>
                </a:solidFill>
              </a:rPr>
              <a:t>Review the portfolio cockpit</a:t>
            </a:r>
          </a:p>
        </p:txBody>
      </p:sp>
      <p:pic>
        <p:nvPicPr>
          <p:cNvPr id="5" name="Picture 4" descr="08-investor-portfol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03070"/>
            <a:ext cx="6766560" cy="42291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43800" y="1417320"/>
            <a:ext cx="40690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4231B"/>
                </a:solidFill>
              </a:rPr>
              <a:t>• See account value, net annual return, active invested, expected outstanding, and realised results.</a:t>
            </a:r>
          </a:p>
          <a:p>
            <a:pPr>
              <a:spcBef>
                <a:spcPts val="1300"/>
              </a:spcBef>
            </a:pPr>
            <a:r>
              <a:rPr sz="1400">
                <a:solidFill>
                  <a:srgbClr val="14231B"/>
                </a:solidFill>
              </a:rPr>
              <a:t>• Aging, payment habits, grades, due dates, and position status support deeper AI questions.</a:t>
            </a:r>
          </a:p>
          <a:p>
            <a:pPr>
              <a:spcBef>
                <a:spcPts val="1300"/>
              </a:spcBef>
            </a:pPr>
            <a:r>
              <a:rPr sz="1400">
                <a:solidFill>
                  <a:srgbClr val="14231B"/>
                </a:solidFill>
              </a:rPr>
              <a:t>• Use the demo investor selector to compare isolated synthetic portfolios.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598932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>
                <a:solidFill>
                  <a:srgbClr val="5C6860"/>
                </a:solidFill>
              </a:rPr>
              <a:t>DEMO · SYNTHETIC DATA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1F5D43"/>
                </a:solidFill>
              </a:rPr>
              <a:t>2. INVESTOR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1F5D43"/>
                </a:solidFill>
              </a:rPr>
              <a:t>Inspect available invoices</a:t>
            </a:r>
          </a:p>
        </p:txBody>
      </p:sp>
      <p:pic>
        <p:nvPicPr>
          <p:cNvPr id="5" name="Picture 4" descr="09-investor-marketpl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03070"/>
            <a:ext cx="6766560" cy="42291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43800" y="1417320"/>
            <a:ext cx="40690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4231B"/>
                </a:solidFill>
              </a:rPr>
              <a:t>• Browse synthetic open invoices by debtor, sector, risk grade, term, and estimated return.</a:t>
            </a:r>
          </a:p>
          <a:p>
            <a:pPr>
              <a:spcBef>
                <a:spcPts val="1300"/>
              </a:spcBef>
            </a:pPr>
            <a:r>
              <a:rPr sz="1400">
                <a:solidFill>
                  <a:srgbClr val="14231B"/>
                </a:solidFill>
              </a:rPr>
              <a:t>• Funding progress and invoice economics support manual selection.</a:t>
            </a:r>
          </a:p>
          <a:p>
            <a:pPr>
              <a:spcBef>
                <a:spcPts val="1300"/>
              </a:spcBef>
            </a:pPr>
            <a:r>
              <a:rPr sz="1400">
                <a:solidFill>
                  <a:srgbClr val="14231B"/>
                </a:solidFill>
              </a:rPr>
              <a:t>• Returns are estimates and invoice financing retains credit, fraud, dilution, concentration, and liquidity risk.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598932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>
                <a:solidFill>
                  <a:srgbClr val="5C6860"/>
                </a:solidFill>
              </a:rPr>
              <a:t>DEMO · SYNTHETIC DATA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1F5D43"/>
                </a:solidFill>
              </a:rPr>
              <a:t>2. INVESTOR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1F5D43"/>
                </a:solidFill>
              </a:rPr>
              <a:t>Configure risk-aware Auto-invest</a:t>
            </a:r>
          </a:p>
        </p:txBody>
      </p:sp>
      <p:pic>
        <p:nvPicPr>
          <p:cNvPr id="5" name="Picture 4" descr="10-investor-autoinv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03070"/>
            <a:ext cx="6766560" cy="42291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43800" y="1417320"/>
            <a:ext cx="40690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4231B"/>
                </a:solidFill>
              </a:rPr>
              <a:t>• Choose conservative, balanced, or growth preferences plus grade, term, return, sector, debtor-concentration, and per-invoice limits.</a:t>
            </a:r>
          </a:p>
          <a:p>
            <a:pPr>
              <a:spcBef>
                <a:spcPts val="1300"/>
              </a:spcBef>
            </a:pPr>
            <a:r>
              <a:rPr sz="1400">
                <a:solidFill>
                  <a:srgbClr val="14231B"/>
                </a:solidFill>
              </a:rPr>
              <a:t>• Investor AI ranks only eligible invoices and explains each proposed allocation.</a:t>
            </a:r>
          </a:p>
          <a:p>
            <a:pPr>
              <a:spcBef>
                <a:spcPts val="1300"/>
              </a:spcBef>
            </a:pPr>
            <a:r>
              <a:rPr sz="1400">
                <a:solidFill>
                  <a:srgbClr val="14231B"/>
                </a:solidFill>
              </a:rPr>
              <a:t>• The preview does not place money; review or change preferences before execution.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598932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>
                <a:solidFill>
                  <a:srgbClr val="5C6860"/>
                </a:solidFill>
              </a:rPr>
              <a:t>DEMO · SYNTHETIC DATA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1F5D43"/>
                </a:solidFill>
              </a:rPr>
              <a:t>2. INVESTOR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1F5D43"/>
                </a:solidFill>
              </a:rPr>
              <a:t>Reconcile investment activity</a:t>
            </a:r>
          </a:p>
        </p:txBody>
      </p:sp>
      <p:pic>
        <p:nvPicPr>
          <p:cNvPr id="5" name="Picture 4" descr="11-investor-stat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03070"/>
            <a:ext cx="6766560" cy="42291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43800" y="1417320"/>
            <a:ext cx="40690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4231B"/>
                </a:solidFill>
              </a:rPr>
              <a:t>• The statement records investments and settlements with invoice and counterparty references.</a:t>
            </a:r>
          </a:p>
          <a:p>
            <a:pPr>
              <a:spcBef>
                <a:spcPts val="1300"/>
              </a:spcBef>
            </a:pPr>
            <a:r>
              <a:rPr sz="1400">
                <a:solidFill>
                  <a:srgbClr val="14231B"/>
                </a:solidFill>
              </a:rPr>
              <a:t>• Filter by date, type, counterparty, invoice, and amount.</a:t>
            </a:r>
          </a:p>
          <a:p>
            <a:pPr>
              <a:spcBef>
                <a:spcPts val="1300"/>
              </a:spcBef>
            </a:pPr>
            <a:r>
              <a:rPr sz="1400">
                <a:solidFill>
                  <a:srgbClr val="14231B"/>
                </a:solidFill>
              </a:rPr>
              <a:t>• Export CSV for external analysis or reconciliation.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598932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>
                <a:solidFill>
                  <a:srgbClr val="5C6860"/>
                </a:solidFill>
              </a:rPr>
              <a:t>DEMO · SYNTHETIC DATA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231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3. Admin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1F5D43"/>
                </a:solidFill>
              </a:rPr>
              <a:t>3. 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1F5D43"/>
                </a:solidFill>
              </a:rPr>
              <a:t>Operate the back office</a:t>
            </a:r>
          </a:p>
        </p:txBody>
      </p:sp>
      <p:pic>
        <p:nvPicPr>
          <p:cNvPr id="5" name="Picture 4" descr="12-admin-cons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03070"/>
            <a:ext cx="6766560" cy="42291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43800" y="1417320"/>
            <a:ext cx="40690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4231B"/>
                </a:solidFill>
              </a:rPr>
              <a:t>• Admin sees platform KPIs, queues, exceptions, and operational navigation in one workspace.</a:t>
            </a:r>
          </a:p>
          <a:p>
            <a:pPr>
              <a:spcBef>
                <a:spcPts val="1300"/>
              </a:spcBef>
            </a:pPr>
            <a:r>
              <a:rPr sz="1400">
                <a:solidFill>
                  <a:srgbClr val="14231B"/>
                </a:solidFill>
              </a:rPr>
              <a:t>• Navigation groups are collapsible and can be minimized to keep a complex toolset manageable.</a:t>
            </a:r>
          </a:p>
          <a:p>
            <a:pPr>
              <a:spcBef>
                <a:spcPts val="1300"/>
              </a:spcBef>
            </a:pPr>
            <a:r>
              <a:rPr sz="1400">
                <a:solidFill>
                  <a:srgbClr val="14231B"/>
                </a:solidFill>
              </a:rPr>
              <a:t>• Global settings include the USD, GBP, EUR, or UZS display-currency override.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598932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>
                <a:solidFill>
                  <a:srgbClr val="5C6860"/>
                </a:solidFill>
              </a:rPr>
              <a:t>DEMO · SYNTHETIC DATA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1F5D43"/>
                </a:solidFill>
              </a:rPr>
              <a:t>3. 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1F5D43"/>
                </a:solidFill>
              </a:rPr>
              <a:t>Coordinate the Agent Fleet</a:t>
            </a:r>
          </a:p>
        </p:txBody>
      </p:sp>
      <p:pic>
        <p:nvPicPr>
          <p:cNvPr id="5" name="Picture 4" descr="13-admin-agent-fl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03070"/>
            <a:ext cx="6766560" cy="42291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43800" y="1417320"/>
            <a:ext cx="40690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4231B"/>
                </a:solidFill>
              </a:rPr>
              <a:t>• Fourteen specialists span orchestration, origination, decisioning, servicing, oversight, and growth.</a:t>
            </a:r>
          </a:p>
          <a:p>
            <a:pPr>
              <a:spcBef>
                <a:spcPts val="1300"/>
              </a:spcBef>
            </a:pPr>
            <a:r>
              <a:rPr sz="1400">
                <a:solidFill>
                  <a:srgbClr val="14231B"/>
                </a:solidFill>
              </a:rPr>
              <a:t>• Agents use grounded tools and preserve approval gates for credit, communication, publishing, spend, and money movement.</a:t>
            </a:r>
          </a:p>
          <a:p>
            <a:pPr>
              <a:spcBef>
                <a:spcPts val="1300"/>
              </a:spcBef>
            </a:pPr>
            <a:r>
              <a:rPr sz="1400">
                <a:solidFill>
                  <a:srgbClr val="14231B"/>
                </a:solidFill>
              </a:rPr>
              <a:t>• The activity feed makes agent operations auditable.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598932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>
                <a:solidFill>
                  <a:srgbClr val="5C6860"/>
                </a:solidFill>
              </a:rPr>
              <a:t>DEMO · SYNTHETIC DATA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1F5D43"/>
                </a:solidFill>
              </a:rPr>
              <a:t>3. 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1F5D43"/>
                </a:solidFill>
              </a:rPr>
              <a:t>Run marketing and SEO agents</a:t>
            </a:r>
          </a:p>
        </p:txBody>
      </p:sp>
      <p:pic>
        <p:nvPicPr>
          <p:cNvPr id="5" name="Picture 4" descr="14-admin-seo-ag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9910" y="1280160"/>
            <a:ext cx="3912579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43800" y="1417320"/>
            <a:ext cx="40690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4231B"/>
                </a:solidFill>
              </a:rPr>
              <a:t>• Browser-driven eval question shown: “Build a supplier invoice-finance keyword cluster.”</a:t>
            </a:r>
          </a:p>
          <a:p>
            <a:pPr>
              <a:spcBef>
                <a:spcPts val="1300"/>
              </a:spcBef>
            </a:pPr>
            <a:r>
              <a:rPr sz="1400">
                <a:solidFill>
                  <a:srgbClr val="14231B"/>
                </a:solidFill>
              </a:rPr>
              <a:t>• SEO &amp; AI Search and Paid Marketing agents create research and drafts without silently publishing or activating spend.</a:t>
            </a:r>
          </a:p>
          <a:p>
            <a:pPr>
              <a:spcBef>
                <a:spcPts val="1300"/>
              </a:spcBef>
            </a:pPr>
            <a:r>
              <a:rPr sz="1400">
                <a:solidFill>
                  <a:srgbClr val="14231B"/>
                </a:solidFill>
              </a:rPr>
              <a:t>• Campaign work should include audience, intent, evidence, measurement, guardrails, and explicit approval.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598932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>
                <a:solidFill>
                  <a:srgbClr val="5C6860"/>
                </a:solidFill>
              </a:rPr>
              <a:t>DEMO · SYNTHETIC DATA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1F5D43"/>
                </a:solidFill>
              </a:rPr>
              <a:t>3. 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1F5D43"/>
                </a:solidFill>
              </a:rPr>
              <a:t>Inspect and edit agent skills</a:t>
            </a:r>
          </a:p>
        </p:txBody>
      </p:sp>
      <p:pic>
        <p:nvPicPr>
          <p:cNvPr id="5" name="Picture 4" descr="15-admin-skills-edi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03070"/>
            <a:ext cx="6766560" cy="42291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43800" y="1417320"/>
            <a:ext cx="40690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4231B"/>
                </a:solidFill>
              </a:rPr>
              <a:t>• Open Agent Skills to view each specialist’s current Markdown instructions.</a:t>
            </a:r>
          </a:p>
          <a:p>
            <a:pPr>
              <a:spcBef>
                <a:spcPts val="1300"/>
              </a:spcBef>
            </a:pPr>
            <a:r>
              <a:rPr sz="1400">
                <a:solidFill>
                  <a:srgbClr val="14231B"/>
                </a:solidFill>
              </a:rPr>
              <a:t>• Admin can save a database-backed prompt version and review change history.</a:t>
            </a:r>
          </a:p>
          <a:p>
            <a:pPr>
              <a:spcBef>
                <a:spcPts val="1300"/>
              </a:spcBef>
            </a:pPr>
            <a:r>
              <a:rPr sz="1400">
                <a:solidFill>
                  <a:srgbClr val="14231B"/>
                </a:solidFill>
              </a:rPr>
              <a:t>• Revert restores a selected earlier version while preserving an audit trail.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598932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>
                <a:solidFill>
                  <a:srgbClr val="5C6860"/>
                </a:solidFill>
              </a:rPr>
              <a:t>DEMO · SYNTHETIC DATA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1F5D43"/>
                </a:solidFill>
              </a:rPr>
              <a:t>3. 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1F5D43"/>
                </a:solidFill>
              </a:rPr>
              <a:t>Process and approve invoices</a:t>
            </a:r>
          </a:p>
        </p:txBody>
      </p:sp>
      <p:pic>
        <p:nvPicPr>
          <p:cNvPr id="5" name="Picture 4" descr="16-admin-proces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03070"/>
            <a:ext cx="6766560" cy="42291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43800" y="1417320"/>
            <a:ext cx="40690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4231B"/>
                </a:solidFill>
              </a:rPr>
              <a:t>• The processing queue supports verification, exceptions, risk review, and funding readiness.</a:t>
            </a:r>
          </a:p>
          <a:p>
            <a:pPr>
              <a:spcBef>
                <a:spcPts val="1300"/>
              </a:spcBef>
            </a:pPr>
            <a:r>
              <a:rPr sz="1400">
                <a:solidFill>
                  <a:srgbClr val="14231B"/>
                </a:solidFill>
              </a:rPr>
              <a:t>• AI may recommend or draft; final financial and credit actions remain approval-gated.</a:t>
            </a:r>
          </a:p>
          <a:p>
            <a:pPr>
              <a:spcBef>
                <a:spcPts val="1300"/>
              </a:spcBef>
            </a:pPr>
            <a:r>
              <a:rPr sz="1400">
                <a:solidFill>
                  <a:srgbClr val="14231B"/>
                </a:solidFill>
              </a:rPr>
              <a:t>• Synthetic data makes the workflow safe to explore in the platform demo.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598932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>
                <a:solidFill>
                  <a:srgbClr val="5C6860"/>
                </a:solidFill>
              </a:rPr>
              <a:t>DEMO · SYNTHETIC DATA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1F5D43"/>
                </a:solidFill>
              </a:rPr>
              <a:t>3. 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1F5D43"/>
                </a:solidFill>
              </a:rPr>
              <a:t>Reconcile accounting activity</a:t>
            </a:r>
          </a:p>
        </p:txBody>
      </p:sp>
      <p:pic>
        <p:nvPicPr>
          <p:cNvPr id="5" name="Picture 4" descr="17-admin-accoun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03070"/>
            <a:ext cx="6766560" cy="42291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43800" y="1417320"/>
            <a:ext cx="40690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4231B"/>
                </a:solidFill>
              </a:rPr>
              <a:t>• Accounting tools cover journal review, reconciliation, receivables, fees, reserves, and settlement evidence.</a:t>
            </a:r>
          </a:p>
          <a:p>
            <a:pPr>
              <a:spcBef>
                <a:spcPts val="1300"/>
              </a:spcBef>
            </a:pPr>
            <a:r>
              <a:rPr sz="1400">
                <a:solidFill>
                  <a:srgbClr val="14231B"/>
                </a:solidFill>
              </a:rPr>
              <a:t>• Agents must not create balancing plugs or invent transactions.</a:t>
            </a:r>
          </a:p>
          <a:p>
            <a:pPr>
              <a:spcBef>
                <a:spcPts val="1300"/>
              </a:spcBef>
            </a:pPr>
            <a:r>
              <a:rPr sz="1400">
                <a:solidFill>
                  <a:srgbClr val="14231B"/>
                </a:solidFill>
              </a:rPr>
              <a:t>• Use source records and approval history to resolve differences.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598932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>
                <a:solidFill>
                  <a:srgbClr val="5C6860"/>
                </a:solidFill>
              </a:rPr>
              <a:t>DEMO · SYNTHETIC DATA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1F5D43"/>
                </a:solidFill>
              </a:rPr>
              <a:t>3. 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1F5D43"/>
                </a:solidFill>
              </a:rPr>
              <a:t>Manage platform integrations</a:t>
            </a:r>
          </a:p>
        </p:txBody>
      </p:sp>
      <p:pic>
        <p:nvPicPr>
          <p:cNvPr id="5" name="Picture 4" descr="18-admin-integr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03070"/>
            <a:ext cx="6766560" cy="42291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43800" y="1417320"/>
            <a:ext cx="40690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4231B"/>
                </a:solidFill>
              </a:rPr>
              <a:t>• Integration cards show demo connectivity for accounting, banking, communications, and document services.</a:t>
            </a:r>
          </a:p>
          <a:p>
            <a:pPr>
              <a:spcBef>
                <a:spcPts val="1300"/>
              </a:spcBef>
            </a:pPr>
            <a:r>
              <a:rPr sz="1400">
                <a:solidFill>
                  <a:srgbClr val="14231B"/>
                </a:solidFill>
              </a:rPr>
              <a:t>• Connection status is demonstrative and must not be treated as a live third-party authorization.</a:t>
            </a:r>
          </a:p>
          <a:p>
            <a:pPr>
              <a:spcBef>
                <a:spcPts val="1300"/>
              </a:spcBef>
            </a:pPr>
            <a:r>
              <a:rPr sz="1400">
                <a:solidFill>
                  <a:srgbClr val="14231B"/>
                </a:solidFill>
              </a:rPr>
              <a:t>• The invoice ingestion endpoint supports structured external demo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598932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>
                <a:solidFill>
                  <a:srgbClr val="5C6860"/>
                </a:solidFill>
              </a:rPr>
              <a:t>DEMO · SYNTHETIC DATA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1F5D43"/>
                </a:solidFill>
              </a:rPr>
              <a:t>3. 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1F5D43"/>
                </a:solidFill>
              </a:rPr>
              <a:t>Review the audit trail</a:t>
            </a:r>
          </a:p>
        </p:txBody>
      </p:sp>
      <p:pic>
        <p:nvPicPr>
          <p:cNvPr id="5" name="Picture 4" descr="19-admin-au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03070"/>
            <a:ext cx="6766560" cy="42291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43800" y="1417320"/>
            <a:ext cx="40690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4231B"/>
                </a:solidFill>
              </a:rPr>
              <a:t>• Audit records identify actor, action, entity, detail, and time.</a:t>
            </a:r>
          </a:p>
          <a:p>
            <a:pPr>
              <a:spcBef>
                <a:spcPts val="1300"/>
              </a:spcBef>
            </a:pPr>
            <a:r>
              <a:rPr sz="1400">
                <a:solidFill>
                  <a:srgbClr val="14231B"/>
                </a:solidFill>
              </a:rPr>
              <a:t>• Use the log to inspect human and agent activity, approvals, and configuration changes.</a:t>
            </a:r>
          </a:p>
          <a:p>
            <a:pPr>
              <a:spcBef>
                <a:spcPts val="1300"/>
              </a:spcBef>
            </a:pPr>
            <a:r>
              <a:rPr sz="1400">
                <a:solidFill>
                  <a:srgbClr val="14231B"/>
                </a:solidFill>
              </a:rPr>
              <a:t>• Prompt-version history and action logs support governance of the agentic platform.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598932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>
                <a:solidFill>
                  <a:srgbClr val="5C6860"/>
                </a:solidFill>
              </a:rPr>
              <a:t>DEMO · SYNTHETIC DATA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1F5D43"/>
                </a:solidFill>
              </a:rPr>
              <a:t>3. 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1F5D43"/>
                </a:solidFill>
              </a:rPr>
              <a:t>Prepare borrower transactional emails</a:t>
            </a:r>
          </a:p>
        </p:txBody>
      </p:sp>
      <p:pic>
        <p:nvPicPr>
          <p:cNvPr id="5" name="Picture 4" descr="20-admin-email-templ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03070"/>
            <a:ext cx="6766560" cy="42291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43800" y="1417320"/>
            <a:ext cx="40690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4231B"/>
                </a:solidFill>
              </a:rPr>
              <a:t>• Customer Service can render Factorio-branded bank-connection and accounting-connection reminders from checked-in Markdown templates.</a:t>
            </a:r>
          </a:p>
          <a:p>
            <a:pPr>
              <a:spcBef>
                <a:spcPts val="1300"/>
              </a:spcBef>
            </a:pPr>
            <a:r>
              <a:rPr sz="1400">
                <a:solidFill>
                  <a:srgbClr val="14231B"/>
                </a:solidFill>
              </a:rPr>
              <a:t>• Each draft uses a personalized HTTPS resume link, support contact, and application-specific wording without sensitive bank or accounting credentials.</a:t>
            </a:r>
          </a:p>
          <a:p>
            <a:pPr>
              <a:spcBef>
                <a:spcPts val="1300"/>
              </a:spcBef>
            </a:pPr>
            <a:r>
              <a:rPr sz="1400">
                <a:solidFill>
                  <a:srgbClr val="14231B"/>
                </a:solidFill>
              </a:rPr>
              <a:t>• Delivery is disabled in this demo until Postmark, a verified sender, approval/lifecycle triggers, audit records, and delivery webhooks are configured.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598932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>
                <a:solidFill>
                  <a:srgbClr val="5C6860"/>
                </a:solidFill>
              </a:rPr>
              <a:t>DEMO · SYNTHETIC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